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97" autoAdjust="0"/>
    <p:restoredTop sz="94660"/>
  </p:normalViewPr>
  <p:slideViewPr>
    <p:cSldViewPr snapToGrid="0">
      <p:cViewPr>
        <p:scale>
          <a:sx n="100" d="100"/>
          <a:sy n="100" d="100"/>
        </p:scale>
        <p:origin x="1314" y="-1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84612D40-3590-4A4F-A6B5-04AD1CDE1CF2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BFA2C265-8890-458E-A8AC-D04205E25B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119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A2C265-8890-458E-A8AC-D04205E25B1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598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B4A0-2D1D-4DED-B825-0CAA57C1C9A3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ZMB Block Diagram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D098D-B576-444F-A41F-96E9FE772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891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8B118-9509-4168-8270-D377054A9F5F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ZMB Block Diagram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D098D-B576-444F-A41F-96E9FE772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473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D5E09-17EB-4445-9BDB-182FE840C17F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ZMB Block Diagram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D098D-B576-444F-A41F-96E9FE772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718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D6E70-891F-4E43-971F-7993A40443BA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ZMB Block Diagram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D098D-B576-444F-A41F-96E9FE772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10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85BFC-85E2-4C07-9ECC-B7AD3090C0CD}" type="datetime1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ZMB Block Diagram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D098D-B576-444F-A41F-96E9FE772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857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A334F-787C-40DE-9EAC-B7F0C32AD364}" type="datetime1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ZMB Block Diagram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D098D-B576-444F-A41F-96E9FE772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429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10924-01C3-4A73-A7FD-C50DEAA0A97F}" type="datetime1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ZMB Block Diagram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D098D-B576-444F-A41F-96E9FE772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427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12BAA-EB5D-4DAE-8F14-7ED1C6531D28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ZMB Block Diagram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D098D-B576-444F-A41F-96E9FE772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16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5F172-7B88-4FE6-8954-791134BB327E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ZMB Block Diagram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D098D-B576-444F-A41F-96E9FE772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81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C04EC-CD9A-47EF-8FC7-DF0834A25B1E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ZMB Block Diagram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D098D-B576-444F-A41F-96E9FE772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807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B3259-430C-4DE6-A08E-41C535F65470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ZMB Block Diagram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D098D-B576-444F-A41F-96E9FE772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65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FCE7C2-B705-4F96-ABFC-AA7025A9D5C9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ZMB Block Diagram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7D098D-B576-444F-A41F-96E9FE772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43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AD3EAF-E1D9-A5E8-6C99-AF772AD1FA30}"/>
              </a:ext>
            </a:extLst>
          </p:cNvPr>
          <p:cNvSpPr/>
          <p:nvPr/>
        </p:nvSpPr>
        <p:spPr>
          <a:xfrm>
            <a:off x="309992" y="420306"/>
            <a:ext cx="1354828" cy="11208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/>
              <a:t>RESET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Board (driven by):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800" dirty="0"/>
              <a:t>Power-On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800" dirty="0"/>
              <a:t>Push-BTN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800" dirty="0"/>
              <a:t>Bus Signal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Z80 (driven by):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800" dirty="0"/>
              <a:t>Board-RST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800" dirty="0"/>
              <a:t>Bus Signal</a:t>
            </a:r>
          </a:p>
          <a:p>
            <a:endParaRPr lang="en-US" sz="800" dirty="0"/>
          </a:p>
        </p:txBody>
      </p:sp>
      <p:sp>
        <p:nvSpPr>
          <p:cNvPr id="76" name="Footer Placeholder 75">
            <a:extLst>
              <a:ext uri="{FF2B5EF4-FFF2-40B4-BE49-F238E27FC236}">
                <a16:creationId xmlns:a16="http://schemas.microsoft.com/office/drawing/2014/main" id="{EDB14FC0-1230-18C2-C8F9-A72E922D1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ZMB Block Diagram (ES)</a:t>
            </a:r>
          </a:p>
        </p:txBody>
      </p:sp>
      <p:sp>
        <p:nvSpPr>
          <p:cNvPr id="77" name="Slide Number Placeholder 76">
            <a:extLst>
              <a:ext uri="{FF2B5EF4-FFF2-40B4-BE49-F238E27FC236}">
                <a16:creationId xmlns:a16="http://schemas.microsoft.com/office/drawing/2014/main" id="{4E12B5D0-E9FE-DD64-FAA9-A359FB8E4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D098D-B576-444F-A41F-96E9FE772B1D}" type="slidenum">
              <a:rPr lang="en-US" smtClean="0"/>
              <a:t>1</a:t>
            </a:fld>
            <a:endParaRPr lang="en-US" dirty="0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BADA4ADC-11AB-9C58-A241-ABB23AC39B80}"/>
              </a:ext>
            </a:extLst>
          </p:cNvPr>
          <p:cNvGrpSpPr/>
          <p:nvPr/>
        </p:nvGrpSpPr>
        <p:grpSpPr>
          <a:xfrm>
            <a:off x="1660459" y="455353"/>
            <a:ext cx="565345" cy="215444"/>
            <a:chOff x="2772580" y="823814"/>
            <a:chExt cx="936432" cy="215444"/>
          </a:xfrm>
        </p:grpSpPr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E460F196-BBB7-DC35-F14D-ECE7C7C54E17}"/>
                </a:ext>
              </a:extLst>
            </p:cNvPr>
            <p:cNvCxnSpPr/>
            <p:nvPr/>
          </p:nvCxnSpPr>
          <p:spPr>
            <a:xfrm>
              <a:off x="2772580" y="984173"/>
              <a:ext cx="9364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E1992448-1A50-3AE5-12B5-0CA0B3810EFC}"/>
                </a:ext>
              </a:extLst>
            </p:cNvPr>
            <p:cNvSpPr txBox="1"/>
            <p:nvPr/>
          </p:nvSpPr>
          <p:spPr>
            <a:xfrm>
              <a:off x="2772580" y="823814"/>
              <a:ext cx="41010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BRDRST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67A024F7-A886-E5DE-B26F-20C259387D1F}"/>
              </a:ext>
            </a:extLst>
          </p:cNvPr>
          <p:cNvGrpSpPr/>
          <p:nvPr/>
        </p:nvGrpSpPr>
        <p:grpSpPr>
          <a:xfrm>
            <a:off x="1658119" y="1027630"/>
            <a:ext cx="565345" cy="215444"/>
            <a:chOff x="2772580" y="823814"/>
            <a:chExt cx="936432" cy="215444"/>
          </a:xfrm>
        </p:grpSpPr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90802276-C566-4594-2002-E645C98D2A5E}"/>
                </a:ext>
              </a:extLst>
            </p:cNvPr>
            <p:cNvCxnSpPr/>
            <p:nvPr/>
          </p:nvCxnSpPr>
          <p:spPr>
            <a:xfrm>
              <a:off x="2772580" y="984173"/>
              <a:ext cx="9364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C00E8AA-B067-012B-DA3B-2461FE3A0FF0}"/>
                </a:ext>
              </a:extLst>
            </p:cNvPr>
            <p:cNvSpPr txBox="1"/>
            <p:nvPr/>
          </p:nvSpPr>
          <p:spPr>
            <a:xfrm>
              <a:off x="2772580" y="823814"/>
              <a:ext cx="85550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Z80RST</a:t>
              </a: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966D5FFB-98FE-C80F-BAAA-879F8B1278A0}"/>
              </a:ext>
            </a:extLst>
          </p:cNvPr>
          <p:cNvGrpSpPr/>
          <p:nvPr/>
        </p:nvGrpSpPr>
        <p:grpSpPr>
          <a:xfrm>
            <a:off x="170265" y="4418949"/>
            <a:ext cx="2341121" cy="683842"/>
            <a:chOff x="162049" y="5497373"/>
            <a:chExt cx="2341121" cy="683842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7736E99A-728F-8807-C2A8-E43E36FA3D96}"/>
                </a:ext>
              </a:extLst>
            </p:cNvPr>
            <p:cNvSpPr/>
            <p:nvPr/>
          </p:nvSpPr>
          <p:spPr>
            <a:xfrm>
              <a:off x="1151957" y="5617779"/>
              <a:ext cx="1351213" cy="56343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Display Panel</a:t>
              </a:r>
            </a:p>
          </p:txBody>
        </p: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538C4C6C-FFF0-C24A-6811-BD24DB96BA85}"/>
                </a:ext>
              </a:extLst>
            </p:cNvPr>
            <p:cNvGrpSpPr/>
            <p:nvPr/>
          </p:nvGrpSpPr>
          <p:grpSpPr>
            <a:xfrm>
              <a:off x="162049" y="5497373"/>
              <a:ext cx="968535" cy="215444"/>
              <a:chOff x="162049" y="3487766"/>
              <a:chExt cx="968535" cy="215444"/>
            </a:xfrm>
          </p:grpSpPr>
          <p:cxnSp>
            <p:nvCxnSpPr>
              <p:cNvPr id="119" name="Straight Arrow Connector 118">
                <a:extLst>
                  <a:ext uri="{FF2B5EF4-FFF2-40B4-BE49-F238E27FC236}">
                    <a16:creationId xmlns:a16="http://schemas.microsoft.com/office/drawing/2014/main" id="{2B751AF9-2D92-332A-3712-592D24161E0E}"/>
                  </a:ext>
                </a:extLst>
              </p:cNvPr>
              <p:cNvCxnSpPr/>
              <p:nvPr/>
            </p:nvCxnSpPr>
            <p:spPr>
              <a:xfrm>
                <a:off x="309992" y="3656272"/>
                <a:ext cx="8186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6ABB6085-0958-8AB2-A6FF-0C3D88F38977}"/>
                  </a:ext>
                </a:extLst>
              </p:cNvPr>
              <p:cNvSpPr txBox="1"/>
              <p:nvPr/>
            </p:nvSpPr>
            <p:spPr>
              <a:xfrm>
                <a:off x="162049" y="3487766"/>
                <a:ext cx="96853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 err="1"/>
                  <a:t>DisplayPanel</a:t>
                </a:r>
                <a:r>
                  <a:rPr lang="en-US" sz="800" dirty="0"/>
                  <a:t>-SEL</a:t>
                </a:r>
              </a:p>
            </p:txBody>
          </p:sp>
        </p:grp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E8C9D740-06A0-6D67-A046-EA65459F9F2A}"/>
                </a:ext>
              </a:extLst>
            </p:cNvPr>
            <p:cNvGrpSpPr/>
            <p:nvPr/>
          </p:nvGrpSpPr>
          <p:grpSpPr>
            <a:xfrm>
              <a:off x="316682" y="5677763"/>
              <a:ext cx="818605" cy="215444"/>
              <a:chOff x="309992" y="3495597"/>
              <a:chExt cx="818605" cy="215444"/>
            </a:xfrm>
          </p:grpSpPr>
          <p:cxnSp>
            <p:nvCxnSpPr>
              <p:cNvPr id="122" name="Straight Arrow Connector 121">
                <a:extLst>
                  <a:ext uri="{FF2B5EF4-FFF2-40B4-BE49-F238E27FC236}">
                    <a16:creationId xmlns:a16="http://schemas.microsoft.com/office/drawing/2014/main" id="{EFB0DA09-9E76-5D5B-ABA4-9A083313CC25}"/>
                  </a:ext>
                </a:extLst>
              </p:cNvPr>
              <p:cNvCxnSpPr/>
              <p:nvPr/>
            </p:nvCxnSpPr>
            <p:spPr>
              <a:xfrm>
                <a:off x="309992" y="3656272"/>
                <a:ext cx="8186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571DC0F2-B83E-15E9-B2C4-26D28524AFE3}"/>
                  </a:ext>
                </a:extLst>
              </p:cNvPr>
              <p:cNvSpPr txBox="1"/>
              <p:nvPr/>
            </p:nvSpPr>
            <p:spPr>
              <a:xfrm>
                <a:off x="572355" y="3495597"/>
                <a:ext cx="47320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A[0..1]</a:t>
                </a:r>
              </a:p>
            </p:txBody>
          </p:sp>
        </p:grpSp>
        <p:sp>
          <p:nvSpPr>
            <p:cNvPr id="140" name="Arrow: Left-Right 139">
              <a:extLst>
                <a:ext uri="{FF2B5EF4-FFF2-40B4-BE49-F238E27FC236}">
                  <a16:creationId xmlns:a16="http://schemas.microsoft.com/office/drawing/2014/main" id="{F3FF59B6-8DE8-F995-BD6F-0AAF629589E4}"/>
                </a:ext>
              </a:extLst>
            </p:cNvPr>
            <p:cNvSpPr/>
            <p:nvPr/>
          </p:nvSpPr>
          <p:spPr>
            <a:xfrm>
              <a:off x="449341" y="5925399"/>
              <a:ext cx="679256" cy="255816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DATA</a:t>
              </a:r>
            </a:p>
          </p:txBody>
        </p: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9B2AB15D-60D7-8010-1047-81B86827A9EC}"/>
              </a:ext>
            </a:extLst>
          </p:cNvPr>
          <p:cNvGrpSpPr/>
          <p:nvPr/>
        </p:nvGrpSpPr>
        <p:grpSpPr>
          <a:xfrm>
            <a:off x="3446474" y="4127228"/>
            <a:ext cx="5209267" cy="1754250"/>
            <a:chOff x="3446474" y="4127228"/>
            <a:chExt cx="5209267" cy="1754250"/>
          </a:xfrm>
        </p:grpSpPr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62C5DE90-7B1A-F7EB-BABD-134A5836FF00}"/>
                </a:ext>
              </a:extLst>
            </p:cNvPr>
            <p:cNvCxnSpPr>
              <a:cxnSpLocks/>
            </p:cNvCxnSpPr>
            <p:nvPr/>
          </p:nvCxnSpPr>
          <p:spPr>
            <a:xfrm>
              <a:off x="6675177" y="5600366"/>
              <a:ext cx="118453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8CDB165-F121-71D5-B8F5-622CB0E04087}"/>
                </a:ext>
              </a:extLst>
            </p:cNvPr>
            <p:cNvSpPr/>
            <p:nvPr/>
          </p:nvSpPr>
          <p:spPr>
            <a:xfrm>
              <a:off x="4311243" y="4242982"/>
              <a:ext cx="946614" cy="7313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100" dirty="0"/>
                <a:t>CTC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5850EEA7-7D09-A219-BE0D-F269AB0B9CD2}"/>
                </a:ext>
              </a:extLst>
            </p:cNvPr>
            <p:cNvSpPr txBox="1"/>
            <p:nvPr/>
          </p:nvSpPr>
          <p:spPr>
            <a:xfrm>
              <a:off x="4268497" y="4497278"/>
              <a:ext cx="10576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45720" indent="-91440">
                <a:buSzPct val="101000"/>
                <a:buFont typeface="Arial" panose="020B0604020202020204" pitchFamily="34" charset="0"/>
                <a:buChar char="•"/>
              </a:pPr>
              <a:r>
                <a:rPr lang="en-US" sz="800" dirty="0"/>
                <a:t>CH1: BAUD1</a:t>
              </a:r>
            </a:p>
            <a:p>
              <a:pPr marL="45720" indent="-91440">
                <a:buSzPct val="101000"/>
                <a:buFont typeface="Arial" panose="020B0604020202020204" pitchFamily="34" charset="0"/>
                <a:buChar char="•"/>
              </a:pPr>
              <a:r>
                <a:rPr lang="en-US" sz="800" dirty="0"/>
                <a:t>CH2: BAUD2</a:t>
              </a:r>
            </a:p>
            <a:p>
              <a:pPr marL="45720" indent="-91440">
                <a:buSzPct val="101000"/>
                <a:buFont typeface="Arial" panose="020B0604020202020204" pitchFamily="34" charset="0"/>
                <a:buChar char="•"/>
              </a:pPr>
              <a:r>
                <a:rPr lang="en-US" sz="800" dirty="0"/>
                <a:t>CH3: Periodic INT</a:t>
              </a: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89493110-1B4F-0EEE-D8B3-933FFEAC7BDB}"/>
                </a:ext>
              </a:extLst>
            </p:cNvPr>
            <p:cNvGrpSpPr/>
            <p:nvPr/>
          </p:nvGrpSpPr>
          <p:grpSpPr>
            <a:xfrm>
              <a:off x="5184769" y="4268969"/>
              <a:ext cx="535289" cy="215444"/>
              <a:chOff x="5219002" y="4788278"/>
              <a:chExt cx="535289" cy="215444"/>
            </a:xfrm>
          </p:grpSpPr>
          <p:cxnSp>
            <p:nvCxnSpPr>
              <p:cNvPr id="132" name="Straight Arrow Connector 131">
                <a:extLst>
                  <a:ext uri="{FF2B5EF4-FFF2-40B4-BE49-F238E27FC236}">
                    <a16:creationId xmlns:a16="http://schemas.microsoft.com/office/drawing/2014/main" id="{8BACD5BE-7496-751C-AD94-A8B2301970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92090" y="4957374"/>
                <a:ext cx="46220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C8FE31D6-0B5A-8A7A-0EB8-25FCB7CB6986}"/>
                  </a:ext>
                </a:extLst>
              </p:cNvPr>
              <p:cNvSpPr txBox="1"/>
              <p:nvPr/>
            </p:nvSpPr>
            <p:spPr>
              <a:xfrm>
                <a:off x="5219002" y="4788278"/>
                <a:ext cx="50366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BAUD1</a:t>
                </a:r>
              </a:p>
            </p:txBody>
          </p:sp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6953615F-3E3E-0E00-2D3F-0F8D49D3274F}"/>
                </a:ext>
              </a:extLst>
            </p:cNvPr>
            <p:cNvGrpSpPr/>
            <p:nvPr/>
          </p:nvGrpSpPr>
          <p:grpSpPr>
            <a:xfrm>
              <a:off x="5189850" y="4505896"/>
              <a:ext cx="535289" cy="215444"/>
              <a:chOff x="5219002" y="4788278"/>
              <a:chExt cx="535289" cy="215444"/>
            </a:xfrm>
          </p:grpSpPr>
          <p:cxnSp>
            <p:nvCxnSpPr>
              <p:cNvPr id="138" name="Straight Arrow Connector 137">
                <a:extLst>
                  <a:ext uri="{FF2B5EF4-FFF2-40B4-BE49-F238E27FC236}">
                    <a16:creationId xmlns:a16="http://schemas.microsoft.com/office/drawing/2014/main" id="{8812D32B-6F50-54F4-C551-79D6D75B2E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92090" y="4957374"/>
                <a:ext cx="46220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D79A208F-2062-C468-C78C-36F6621348ED}"/>
                  </a:ext>
                </a:extLst>
              </p:cNvPr>
              <p:cNvSpPr txBox="1"/>
              <p:nvPr/>
            </p:nvSpPr>
            <p:spPr>
              <a:xfrm>
                <a:off x="5219002" y="4788278"/>
                <a:ext cx="50366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BAUD2</a:t>
                </a:r>
              </a:p>
            </p:txBody>
          </p:sp>
        </p:grpSp>
        <p:sp>
          <p:nvSpPr>
            <p:cNvPr id="141" name="Arrow: Left-Right 140">
              <a:extLst>
                <a:ext uri="{FF2B5EF4-FFF2-40B4-BE49-F238E27FC236}">
                  <a16:creationId xmlns:a16="http://schemas.microsoft.com/office/drawing/2014/main" id="{9EA7B65F-BF31-F54A-ADB5-F19CDA286314}"/>
                </a:ext>
              </a:extLst>
            </p:cNvPr>
            <p:cNvSpPr/>
            <p:nvPr/>
          </p:nvSpPr>
          <p:spPr>
            <a:xfrm>
              <a:off x="3615695" y="4516282"/>
              <a:ext cx="679256" cy="255816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DATA</a:t>
              </a:r>
            </a:p>
          </p:txBody>
        </p: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F9490BE9-6D8D-BC13-38B9-799714AA107B}"/>
                </a:ext>
              </a:extLst>
            </p:cNvPr>
            <p:cNvGrpSpPr/>
            <p:nvPr/>
          </p:nvGrpSpPr>
          <p:grpSpPr>
            <a:xfrm>
              <a:off x="3446474" y="4127228"/>
              <a:ext cx="859163" cy="215444"/>
              <a:chOff x="269434" y="3483713"/>
              <a:chExt cx="859163" cy="215444"/>
            </a:xfrm>
          </p:grpSpPr>
          <p:cxnSp>
            <p:nvCxnSpPr>
              <p:cNvPr id="151" name="Straight Arrow Connector 150">
                <a:extLst>
                  <a:ext uri="{FF2B5EF4-FFF2-40B4-BE49-F238E27FC236}">
                    <a16:creationId xmlns:a16="http://schemas.microsoft.com/office/drawing/2014/main" id="{926730DB-7FDB-65E8-8D96-EF585A804AFF}"/>
                  </a:ext>
                </a:extLst>
              </p:cNvPr>
              <p:cNvCxnSpPr/>
              <p:nvPr/>
            </p:nvCxnSpPr>
            <p:spPr>
              <a:xfrm>
                <a:off x="309992" y="3656272"/>
                <a:ext cx="8186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1A89624E-4942-9D0E-BB92-BBC518E8B55A}"/>
                  </a:ext>
                </a:extLst>
              </p:cNvPr>
              <p:cNvSpPr txBox="1"/>
              <p:nvPr/>
            </p:nvSpPr>
            <p:spPr>
              <a:xfrm>
                <a:off x="269434" y="3483713"/>
                <a:ext cx="57740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CTC-SEL</a:t>
                </a:r>
              </a:p>
            </p:txBody>
          </p:sp>
        </p:grp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CD8EBCD3-9B75-FE4E-D084-EC148F4BF440}"/>
                </a:ext>
              </a:extLst>
            </p:cNvPr>
            <p:cNvGrpSpPr/>
            <p:nvPr/>
          </p:nvGrpSpPr>
          <p:grpSpPr>
            <a:xfrm>
              <a:off x="3452080" y="4279570"/>
              <a:ext cx="859163" cy="215444"/>
              <a:chOff x="269434" y="3483713"/>
              <a:chExt cx="859163" cy="215444"/>
            </a:xfrm>
          </p:grpSpPr>
          <p:cxnSp>
            <p:nvCxnSpPr>
              <p:cNvPr id="154" name="Straight Arrow Connector 153">
                <a:extLst>
                  <a:ext uri="{FF2B5EF4-FFF2-40B4-BE49-F238E27FC236}">
                    <a16:creationId xmlns:a16="http://schemas.microsoft.com/office/drawing/2014/main" id="{AFD1F97D-ECFB-0156-527B-D618D02222E5}"/>
                  </a:ext>
                </a:extLst>
              </p:cNvPr>
              <p:cNvCxnSpPr/>
              <p:nvPr/>
            </p:nvCxnSpPr>
            <p:spPr>
              <a:xfrm>
                <a:off x="309992" y="3656272"/>
                <a:ext cx="8186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60624751-241D-B1CD-96A0-12E3013EBCD3}"/>
                  </a:ext>
                </a:extLst>
              </p:cNvPr>
              <p:cNvSpPr txBox="1"/>
              <p:nvPr/>
            </p:nvSpPr>
            <p:spPr>
              <a:xfrm>
                <a:off x="269434" y="3483713"/>
                <a:ext cx="47320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A[0..1]</a:t>
                </a:r>
              </a:p>
            </p:txBody>
          </p:sp>
        </p:grpSp>
        <p:sp>
          <p:nvSpPr>
            <p:cNvPr id="158" name="Flowchart: Display 157">
              <a:extLst>
                <a:ext uri="{FF2B5EF4-FFF2-40B4-BE49-F238E27FC236}">
                  <a16:creationId xmlns:a16="http://schemas.microsoft.com/office/drawing/2014/main" id="{14F2D9F4-3065-A7F2-245A-369D1888FEC9}"/>
                </a:ext>
              </a:extLst>
            </p:cNvPr>
            <p:cNvSpPr/>
            <p:nvPr/>
          </p:nvSpPr>
          <p:spPr>
            <a:xfrm flipH="1">
              <a:off x="7765503" y="4208635"/>
              <a:ext cx="890238" cy="343659"/>
            </a:xfrm>
            <a:prstGeom prst="flowChartDisplay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USB</a:t>
              </a:r>
            </a:p>
          </p:txBody>
        </p: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91F255C8-8116-E320-1294-0D2A6E732049}"/>
                </a:ext>
              </a:extLst>
            </p:cNvPr>
            <p:cNvGrpSpPr/>
            <p:nvPr/>
          </p:nvGrpSpPr>
          <p:grpSpPr>
            <a:xfrm flipH="1">
              <a:off x="3464702" y="4749310"/>
              <a:ext cx="833206" cy="215444"/>
              <a:chOff x="309992" y="3491864"/>
              <a:chExt cx="818605" cy="215444"/>
            </a:xfrm>
          </p:grpSpPr>
          <p:cxnSp>
            <p:nvCxnSpPr>
              <p:cNvPr id="167" name="Straight Arrow Connector 166">
                <a:extLst>
                  <a:ext uri="{FF2B5EF4-FFF2-40B4-BE49-F238E27FC236}">
                    <a16:creationId xmlns:a16="http://schemas.microsoft.com/office/drawing/2014/main" id="{87C8036D-617F-55A1-7438-F0A06FE12D9B}"/>
                  </a:ext>
                </a:extLst>
              </p:cNvPr>
              <p:cNvCxnSpPr/>
              <p:nvPr/>
            </p:nvCxnSpPr>
            <p:spPr>
              <a:xfrm>
                <a:off x="309992" y="3656272"/>
                <a:ext cx="8186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AFB032DA-B1D8-AA02-00B1-B8503AA8E768}"/>
                  </a:ext>
                </a:extLst>
              </p:cNvPr>
              <p:cNvSpPr txBox="1"/>
              <p:nvPr/>
            </p:nvSpPr>
            <p:spPr>
              <a:xfrm>
                <a:off x="628932" y="3491864"/>
                <a:ext cx="25032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INT</a:t>
                </a:r>
              </a:p>
            </p:txBody>
          </p:sp>
        </p:grpSp>
        <p:grpSp>
          <p:nvGrpSpPr>
            <p:cNvPr id="217" name="Group 216">
              <a:extLst>
                <a:ext uri="{FF2B5EF4-FFF2-40B4-BE49-F238E27FC236}">
                  <a16:creationId xmlns:a16="http://schemas.microsoft.com/office/drawing/2014/main" id="{966B3641-C6B5-C21F-F669-E98F2E474871}"/>
                </a:ext>
              </a:extLst>
            </p:cNvPr>
            <p:cNvGrpSpPr/>
            <p:nvPr/>
          </p:nvGrpSpPr>
          <p:grpSpPr>
            <a:xfrm>
              <a:off x="4846294" y="4171340"/>
              <a:ext cx="3777698" cy="1710138"/>
              <a:chOff x="4846294" y="4171340"/>
              <a:chExt cx="3777698" cy="1710138"/>
            </a:xfrm>
          </p:grpSpPr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26E47AAD-C89F-ED51-16DC-F10567C58A3F}"/>
                  </a:ext>
                </a:extLst>
              </p:cNvPr>
              <p:cNvSpPr/>
              <p:nvPr/>
            </p:nvSpPr>
            <p:spPr>
              <a:xfrm>
                <a:off x="5728563" y="4242981"/>
                <a:ext cx="946614" cy="163849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1100" dirty="0"/>
                  <a:t>SIO</a:t>
                </a:r>
              </a:p>
            </p:txBody>
          </p:sp>
          <p:sp>
            <p:nvSpPr>
              <p:cNvPr id="142" name="Arrow: Left-Right 141">
                <a:extLst>
                  <a:ext uri="{FF2B5EF4-FFF2-40B4-BE49-F238E27FC236}">
                    <a16:creationId xmlns:a16="http://schemas.microsoft.com/office/drawing/2014/main" id="{9996D8DC-5DE8-E70F-76CA-36AF5C4F2BC0}"/>
                  </a:ext>
                </a:extLst>
              </p:cNvPr>
              <p:cNvSpPr/>
              <p:nvPr/>
            </p:nvSpPr>
            <p:spPr>
              <a:xfrm>
                <a:off x="5026201" y="5355013"/>
                <a:ext cx="679256" cy="255816"/>
              </a:xfrm>
              <a:prstGeom prst="left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/>
                  <a:t>DATA</a:t>
                </a:r>
              </a:p>
            </p:txBody>
          </p:sp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8739727C-3151-FEDF-0E08-347CD87598E6}"/>
                  </a:ext>
                </a:extLst>
              </p:cNvPr>
              <p:cNvGrpSpPr/>
              <p:nvPr/>
            </p:nvGrpSpPr>
            <p:grpSpPr>
              <a:xfrm>
                <a:off x="4846294" y="5139569"/>
                <a:ext cx="859163" cy="215444"/>
                <a:chOff x="269434" y="3483713"/>
                <a:chExt cx="859163" cy="215444"/>
              </a:xfrm>
            </p:grpSpPr>
            <p:cxnSp>
              <p:nvCxnSpPr>
                <p:cNvPr id="144" name="Straight Arrow Connector 143">
                  <a:extLst>
                    <a:ext uri="{FF2B5EF4-FFF2-40B4-BE49-F238E27FC236}">
                      <a16:creationId xmlns:a16="http://schemas.microsoft.com/office/drawing/2014/main" id="{CCA7CDD9-0B5F-CCB6-D9DF-0D049BFADDE7}"/>
                    </a:ext>
                  </a:extLst>
                </p:cNvPr>
                <p:cNvCxnSpPr/>
                <p:nvPr/>
              </p:nvCxnSpPr>
              <p:spPr>
                <a:xfrm>
                  <a:off x="309992" y="3656272"/>
                  <a:ext cx="81860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A2832D9B-5AEB-28D6-BCDE-60BF5F79914A}"/>
                    </a:ext>
                  </a:extLst>
                </p:cNvPr>
                <p:cNvSpPr txBox="1"/>
                <p:nvPr/>
              </p:nvSpPr>
              <p:spPr>
                <a:xfrm>
                  <a:off x="269434" y="3483713"/>
                  <a:ext cx="473206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00" dirty="0"/>
                    <a:t>A[0..1]</a:t>
                  </a:r>
                </a:p>
              </p:txBody>
            </p:sp>
          </p:grpSp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11D446C3-07E5-CC68-3E9D-3F29C3DC6F59}"/>
                  </a:ext>
                </a:extLst>
              </p:cNvPr>
              <p:cNvGrpSpPr/>
              <p:nvPr/>
            </p:nvGrpSpPr>
            <p:grpSpPr>
              <a:xfrm>
                <a:off x="4850078" y="4995069"/>
                <a:ext cx="859163" cy="215444"/>
                <a:chOff x="269434" y="3483713"/>
                <a:chExt cx="859163" cy="215444"/>
              </a:xfrm>
            </p:grpSpPr>
            <p:cxnSp>
              <p:nvCxnSpPr>
                <p:cNvPr id="148" name="Straight Arrow Connector 147">
                  <a:extLst>
                    <a:ext uri="{FF2B5EF4-FFF2-40B4-BE49-F238E27FC236}">
                      <a16:creationId xmlns:a16="http://schemas.microsoft.com/office/drawing/2014/main" id="{AA736F8C-D2F6-C059-9295-0B2DFD494576}"/>
                    </a:ext>
                  </a:extLst>
                </p:cNvPr>
                <p:cNvCxnSpPr/>
                <p:nvPr/>
              </p:nvCxnSpPr>
              <p:spPr>
                <a:xfrm>
                  <a:off x="309992" y="3656272"/>
                  <a:ext cx="81860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1019BAF0-BBF0-A8FC-44BF-99799B1C4432}"/>
                    </a:ext>
                  </a:extLst>
                </p:cNvPr>
                <p:cNvSpPr txBox="1"/>
                <p:nvPr/>
              </p:nvSpPr>
              <p:spPr>
                <a:xfrm>
                  <a:off x="269434" y="3483713"/>
                  <a:ext cx="546945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00" dirty="0"/>
                    <a:t>SIO-SEL</a:t>
                  </a:r>
                </a:p>
              </p:txBody>
            </p:sp>
          </p:grpSp>
          <p:sp>
            <p:nvSpPr>
              <p:cNvPr id="156" name="Arrow: Left-Right 155">
                <a:extLst>
                  <a:ext uri="{FF2B5EF4-FFF2-40B4-BE49-F238E27FC236}">
                    <a16:creationId xmlns:a16="http://schemas.microsoft.com/office/drawing/2014/main" id="{0D3EE268-7EA5-7434-B24F-CB22A3FAD68E}"/>
                  </a:ext>
                </a:extLst>
              </p:cNvPr>
              <p:cNvSpPr/>
              <p:nvPr/>
            </p:nvSpPr>
            <p:spPr>
              <a:xfrm>
                <a:off x="6692082" y="4171340"/>
                <a:ext cx="1056516" cy="418250"/>
              </a:xfrm>
              <a:prstGeom prst="leftRightArrow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/>
                  <a:t>COM1</a:t>
                </a:r>
                <a:br>
                  <a:rPr lang="en-US" sz="800" dirty="0"/>
                </a:br>
                <a:r>
                  <a:rPr lang="en-US" sz="800" dirty="0"/>
                  <a:t>(D,RTC,CTS)</a:t>
                </a:r>
              </a:p>
            </p:txBody>
          </p:sp>
          <p:sp>
            <p:nvSpPr>
              <p:cNvPr id="157" name="Arrow: Left-Right 156">
                <a:extLst>
                  <a:ext uri="{FF2B5EF4-FFF2-40B4-BE49-F238E27FC236}">
                    <a16:creationId xmlns:a16="http://schemas.microsoft.com/office/drawing/2014/main" id="{DF55C8B3-8964-E936-C071-132B52D6F096}"/>
                  </a:ext>
                </a:extLst>
              </p:cNvPr>
              <p:cNvSpPr/>
              <p:nvPr/>
            </p:nvSpPr>
            <p:spPr>
              <a:xfrm>
                <a:off x="6692082" y="4652812"/>
                <a:ext cx="1056516" cy="418250"/>
              </a:xfrm>
              <a:prstGeom prst="leftRightArrow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/>
                  <a:t>COM2</a:t>
                </a:r>
                <a:br>
                  <a:rPr lang="en-US" sz="800" dirty="0"/>
                </a:br>
                <a:r>
                  <a:rPr lang="en-US" sz="800" dirty="0"/>
                  <a:t>(TX,RX)</a:t>
                </a:r>
              </a:p>
            </p:txBody>
          </p:sp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872BFB52-0081-246F-7E84-E02248105292}"/>
                  </a:ext>
                </a:extLst>
              </p:cNvPr>
              <p:cNvGrpSpPr/>
              <p:nvPr/>
            </p:nvGrpSpPr>
            <p:grpSpPr>
              <a:xfrm>
                <a:off x="6692075" y="5648496"/>
                <a:ext cx="1235397" cy="215444"/>
                <a:chOff x="6726312" y="6167805"/>
                <a:chExt cx="1155448" cy="215444"/>
              </a:xfrm>
            </p:grpSpPr>
            <p:cxnSp>
              <p:nvCxnSpPr>
                <p:cNvPr id="161" name="Straight Arrow Connector 160">
                  <a:extLst>
                    <a:ext uri="{FF2B5EF4-FFF2-40B4-BE49-F238E27FC236}">
                      <a16:creationId xmlns:a16="http://schemas.microsoft.com/office/drawing/2014/main" id="{5B1B4889-D643-BB3F-EC61-DE2CEDC4CD9A}"/>
                    </a:ext>
                  </a:extLst>
                </p:cNvPr>
                <p:cNvCxnSpPr/>
                <p:nvPr/>
              </p:nvCxnSpPr>
              <p:spPr>
                <a:xfrm flipH="1">
                  <a:off x="6726314" y="6345039"/>
                  <a:ext cx="1091409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17388CB1-2815-B911-A65B-442D65F5626B}"/>
                    </a:ext>
                  </a:extLst>
                </p:cNvPr>
                <p:cNvSpPr txBox="1"/>
                <p:nvPr/>
              </p:nvSpPr>
              <p:spPr>
                <a:xfrm flipH="1">
                  <a:off x="6726312" y="6167805"/>
                  <a:ext cx="1155448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" dirty="0"/>
                    <a:t>Ext INT REQ (via DCDB)</a:t>
                  </a:r>
                </a:p>
              </p:txBody>
            </p:sp>
          </p:grpSp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7ED844F7-1B2D-903A-9241-B10EEBC4051A}"/>
                  </a:ext>
                </a:extLst>
              </p:cNvPr>
              <p:cNvGrpSpPr/>
              <p:nvPr/>
            </p:nvGrpSpPr>
            <p:grpSpPr>
              <a:xfrm flipH="1">
                <a:off x="4886852" y="5585472"/>
                <a:ext cx="833206" cy="215444"/>
                <a:chOff x="309992" y="3491864"/>
                <a:chExt cx="818605" cy="215444"/>
              </a:xfrm>
            </p:grpSpPr>
            <p:cxnSp>
              <p:nvCxnSpPr>
                <p:cNvPr id="164" name="Straight Arrow Connector 163">
                  <a:extLst>
                    <a:ext uri="{FF2B5EF4-FFF2-40B4-BE49-F238E27FC236}">
                      <a16:creationId xmlns:a16="http://schemas.microsoft.com/office/drawing/2014/main" id="{60CF9145-F566-FB02-E2D1-0DC611D19FA6}"/>
                    </a:ext>
                  </a:extLst>
                </p:cNvPr>
                <p:cNvCxnSpPr/>
                <p:nvPr/>
              </p:nvCxnSpPr>
              <p:spPr>
                <a:xfrm>
                  <a:off x="309992" y="3656272"/>
                  <a:ext cx="81860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1C6955F4-2937-0C7F-6B6D-FBE156485D82}"/>
                    </a:ext>
                  </a:extLst>
                </p:cNvPr>
                <p:cNvSpPr txBox="1"/>
                <p:nvPr/>
              </p:nvSpPr>
              <p:spPr>
                <a:xfrm>
                  <a:off x="628932" y="3491864"/>
                  <a:ext cx="250324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00" dirty="0"/>
                    <a:t>INT</a:t>
                  </a:r>
                </a:p>
              </p:txBody>
            </p:sp>
          </p:grpSp>
          <p:grpSp>
            <p:nvGrpSpPr>
              <p:cNvPr id="172" name="Group 171">
                <a:extLst>
                  <a:ext uri="{FF2B5EF4-FFF2-40B4-BE49-F238E27FC236}">
                    <a16:creationId xmlns:a16="http://schemas.microsoft.com/office/drawing/2014/main" id="{71EC2DE3-A965-2225-DDF7-753EFF867259}"/>
                  </a:ext>
                </a:extLst>
              </p:cNvPr>
              <p:cNvGrpSpPr/>
              <p:nvPr/>
            </p:nvGrpSpPr>
            <p:grpSpPr>
              <a:xfrm>
                <a:off x="6692082" y="5102791"/>
                <a:ext cx="1931910" cy="394402"/>
                <a:chOff x="6726315" y="5762292"/>
                <a:chExt cx="1479550" cy="394402"/>
              </a:xfrm>
            </p:grpSpPr>
            <p:sp>
              <p:nvSpPr>
                <p:cNvPr id="170" name="Arrow: Left 169">
                  <a:extLst>
                    <a:ext uri="{FF2B5EF4-FFF2-40B4-BE49-F238E27FC236}">
                      <a16:creationId xmlns:a16="http://schemas.microsoft.com/office/drawing/2014/main" id="{9D877634-A734-9850-6256-C10B33957ADA}"/>
                    </a:ext>
                  </a:extLst>
                </p:cNvPr>
                <p:cNvSpPr/>
                <p:nvPr/>
              </p:nvSpPr>
              <p:spPr>
                <a:xfrm>
                  <a:off x="6726315" y="5762292"/>
                  <a:ext cx="1479550" cy="295461"/>
                </a:xfrm>
                <a:prstGeom prst="leftArrow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800" dirty="0">
                      <a:solidFill>
                        <a:schemeClr val="tx1"/>
                      </a:solidFill>
                    </a:rPr>
                    <a:t>BRD Status (via DCDA,CTSB)</a:t>
                  </a:r>
                </a:p>
              </p:txBody>
            </p:sp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E78CB61A-9047-6F84-2EA1-F766E8516908}"/>
                    </a:ext>
                  </a:extLst>
                </p:cNvPr>
                <p:cNvSpPr txBox="1"/>
                <p:nvPr/>
              </p:nvSpPr>
              <p:spPr>
                <a:xfrm>
                  <a:off x="6918325" y="5941250"/>
                  <a:ext cx="1156699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00" dirty="0"/>
                    <a:t>Paging-Enabled, NMI-Enabled</a:t>
                  </a:r>
                </a:p>
              </p:txBody>
            </p:sp>
          </p:grp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A130D67C-6794-C672-14E9-1CF31200A48B}"/>
                  </a:ext>
                </a:extLst>
              </p:cNvPr>
              <p:cNvSpPr txBox="1"/>
              <p:nvPr/>
            </p:nvSpPr>
            <p:spPr>
              <a:xfrm flipH="1">
                <a:off x="6713404" y="5424223"/>
                <a:ext cx="106792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Misc Ctrl (via HSHK)</a:t>
                </a:r>
              </a:p>
            </p:txBody>
          </p:sp>
        </p:grpSp>
      </p:grpSp>
      <p:sp>
        <p:nvSpPr>
          <p:cNvPr id="179" name="Date Placeholder 178">
            <a:extLst>
              <a:ext uri="{FF2B5EF4-FFF2-40B4-BE49-F238E27FC236}">
                <a16:creationId xmlns:a16="http://schemas.microsoft.com/office/drawing/2014/main" id="{DC73CE86-79B0-14E4-BBEB-8B243CF78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D37F5-3AEE-40BD-B8F2-81EE22BBD161}" type="datetime1">
              <a:rPr lang="en-US" smtClean="0"/>
              <a:t>10/3/2025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8E75B0-B705-241F-4D64-6990B26E0E05}"/>
              </a:ext>
            </a:extLst>
          </p:cNvPr>
          <p:cNvSpPr/>
          <p:nvPr/>
        </p:nvSpPr>
        <p:spPr>
          <a:xfrm>
            <a:off x="4345476" y="425863"/>
            <a:ext cx="4672484" cy="34020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MMU &amp; Memory</a:t>
            </a:r>
          </a:p>
          <a:p>
            <a:pPr algn="ctr"/>
            <a:r>
              <a:rPr lang="en-US" sz="1100" dirty="0"/>
              <a:t>(64KB Logical : 2MB Physical)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3DFAAF9-F204-7800-3139-1C361B45CEB2}"/>
              </a:ext>
            </a:extLst>
          </p:cNvPr>
          <p:cNvSpPr txBox="1"/>
          <p:nvPr/>
        </p:nvSpPr>
        <p:spPr>
          <a:xfrm>
            <a:off x="5174873" y="3832494"/>
            <a:ext cx="313900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When Paging is disabled PA13-PA23 are 0 (ROM is selected)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A52E5D-52BA-47DA-67A7-346425B79734}"/>
              </a:ext>
            </a:extLst>
          </p:cNvPr>
          <p:cNvSpPr/>
          <p:nvPr/>
        </p:nvSpPr>
        <p:spPr>
          <a:xfrm>
            <a:off x="4439790" y="734558"/>
            <a:ext cx="1072309" cy="16878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 dirty="0"/>
              <a:t>Page-Seg</a:t>
            </a:r>
          </a:p>
          <a:p>
            <a:pPr algn="ctr"/>
            <a:r>
              <a:rPr lang="en-US" sz="1100" dirty="0"/>
              <a:t>Register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A687C6-B0AA-2FC0-F3ED-A1C2F8E902CE}"/>
              </a:ext>
            </a:extLst>
          </p:cNvPr>
          <p:cNvSpPr/>
          <p:nvPr/>
        </p:nvSpPr>
        <p:spPr>
          <a:xfrm>
            <a:off x="4520623" y="1260168"/>
            <a:ext cx="918074" cy="5796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Page[PA:13-15]</a:t>
            </a:r>
          </a:p>
        </p:txBody>
      </p: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BF56AF69-1913-DD9F-6BA2-8ED86AABCC03}"/>
              </a:ext>
            </a:extLst>
          </p:cNvPr>
          <p:cNvGrpSpPr/>
          <p:nvPr/>
        </p:nvGrpSpPr>
        <p:grpSpPr>
          <a:xfrm>
            <a:off x="7142252" y="1022489"/>
            <a:ext cx="1795373" cy="2704961"/>
            <a:chOff x="7142252" y="1022489"/>
            <a:chExt cx="1795373" cy="2704961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F53B0D9-E65D-1E1F-B067-58A5A1A3802C}"/>
                </a:ext>
              </a:extLst>
            </p:cNvPr>
            <p:cNvSpPr/>
            <p:nvPr/>
          </p:nvSpPr>
          <p:spPr>
            <a:xfrm>
              <a:off x="7142252" y="1022489"/>
              <a:ext cx="1795373" cy="270496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F812A26-E041-9B87-D25A-F6AB62B24242}"/>
                </a:ext>
              </a:extLst>
            </p:cNvPr>
            <p:cNvSpPr/>
            <p:nvPr/>
          </p:nvSpPr>
          <p:spPr>
            <a:xfrm>
              <a:off x="7186924" y="1097387"/>
              <a:ext cx="1685078" cy="76854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100" dirty="0"/>
                <a:t>Flash</a:t>
              </a:r>
            </a:p>
            <a:p>
              <a:pPr algn="ctr"/>
              <a:r>
                <a:rPr lang="en-US" sz="1100" dirty="0"/>
                <a:t>ROM</a:t>
              </a:r>
            </a:p>
            <a:p>
              <a:pPr algn="ctr"/>
              <a:r>
                <a:rPr lang="en-US" sz="1100" dirty="0"/>
                <a:t>[00:0000-07:FFFF]</a:t>
              </a:r>
            </a:p>
            <a:p>
              <a:pPr algn="ctr"/>
              <a:r>
                <a:rPr lang="en-US" sz="1100" dirty="0"/>
                <a:t>(512MB)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28AFA8C-B0F1-B942-6180-659E774F49C5}"/>
                </a:ext>
              </a:extLst>
            </p:cNvPr>
            <p:cNvSpPr/>
            <p:nvPr/>
          </p:nvSpPr>
          <p:spPr>
            <a:xfrm>
              <a:off x="7186924" y="1966127"/>
              <a:ext cx="1685078" cy="76854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100" dirty="0"/>
                <a:t>RAM</a:t>
              </a:r>
            </a:p>
            <a:p>
              <a:pPr algn="ctr"/>
              <a:r>
                <a:rPr lang="en-US" sz="1100" dirty="0"/>
                <a:t>[08:0000-0F:FFFF]</a:t>
              </a:r>
            </a:p>
            <a:p>
              <a:pPr algn="ctr"/>
              <a:r>
                <a:rPr lang="en-US" sz="1100" dirty="0"/>
                <a:t>(512MB)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6856304-B044-8794-0668-96B098B2099C}"/>
                </a:ext>
              </a:extLst>
            </p:cNvPr>
            <p:cNvSpPr/>
            <p:nvPr/>
          </p:nvSpPr>
          <p:spPr>
            <a:xfrm>
              <a:off x="7186924" y="2834868"/>
              <a:ext cx="1685078" cy="76854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100" dirty="0"/>
                <a:t>Available</a:t>
              </a:r>
            </a:p>
            <a:p>
              <a:pPr algn="ctr"/>
              <a:r>
                <a:rPr lang="en-US" sz="800" dirty="0"/>
                <a:t>(to expansion boards)</a:t>
              </a:r>
            </a:p>
            <a:p>
              <a:pPr algn="ctr"/>
              <a:r>
                <a:rPr lang="en-US" sz="1100" dirty="0"/>
                <a:t>[10:0000-1F:FFFF]</a:t>
              </a:r>
            </a:p>
            <a:p>
              <a:pPr algn="ctr"/>
              <a:r>
                <a:rPr lang="en-US" sz="1100" dirty="0"/>
                <a:t>(1MB)</a:t>
              </a:r>
            </a:p>
          </p:txBody>
        </p:sp>
      </p:grp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92489584-D5FC-8DCE-113A-6144DBFCD6E7}"/>
              </a:ext>
            </a:extLst>
          </p:cNvPr>
          <p:cNvSpPr/>
          <p:nvPr/>
        </p:nvSpPr>
        <p:spPr>
          <a:xfrm>
            <a:off x="5520527" y="1533406"/>
            <a:ext cx="1599392" cy="5468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Physical Address</a:t>
            </a:r>
            <a:br>
              <a:rPr lang="en-US" sz="800" dirty="0"/>
            </a:br>
            <a:r>
              <a:rPr lang="en-US" sz="800" dirty="0"/>
              <a:t>[00:0000-1F:FFFF]</a:t>
            </a:r>
          </a:p>
        </p:txBody>
      </p:sp>
      <p:sp>
        <p:nvSpPr>
          <p:cNvPr id="47" name="Arrow: Bent 46">
            <a:extLst>
              <a:ext uri="{FF2B5EF4-FFF2-40B4-BE49-F238E27FC236}">
                <a16:creationId xmlns:a16="http://schemas.microsoft.com/office/drawing/2014/main" id="{918D53A0-5DE4-7D3D-A24B-5519A7166B82}"/>
              </a:ext>
            </a:extLst>
          </p:cNvPr>
          <p:cNvSpPr/>
          <p:nvPr/>
        </p:nvSpPr>
        <p:spPr>
          <a:xfrm rot="10800000">
            <a:off x="6202430" y="1938682"/>
            <a:ext cx="425884" cy="1623356"/>
          </a:xfrm>
          <a:prstGeom prst="bentArrow">
            <a:avLst>
              <a:gd name="adj1" fmla="val 25000"/>
              <a:gd name="adj2" fmla="val 23874"/>
              <a:gd name="adj3" fmla="val 34002"/>
              <a:gd name="adj4" fmla="val 6175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CEB2E54-7680-03B7-5A5C-B73D1052AD15}"/>
              </a:ext>
            </a:extLst>
          </p:cNvPr>
          <p:cNvSpPr/>
          <p:nvPr/>
        </p:nvSpPr>
        <p:spPr>
          <a:xfrm>
            <a:off x="4976503" y="3118758"/>
            <a:ext cx="1225926" cy="6312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PS-RD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3D0A83F-CE82-2EE7-B140-EE80E839D99C}"/>
              </a:ext>
            </a:extLst>
          </p:cNvPr>
          <p:cNvGrpSpPr/>
          <p:nvPr/>
        </p:nvGrpSpPr>
        <p:grpSpPr>
          <a:xfrm>
            <a:off x="3427200" y="3080114"/>
            <a:ext cx="1313050" cy="215444"/>
            <a:chOff x="2772580" y="823814"/>
            <a:chExt cx="936432" cy="215444"/>
          </a:xfrm>
        </p:grpSpPr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46669F06-55FB-1987-48BB-259D3B176B8A}"/>
                </a:ext>
              </a:extLst>
            </p:cNvPr>
            <p:cNvCxnSpPr/>
            <p:nvPr/>
          </p:nvCxnSpPr>
          <p:spPr>
            <a:xfrm>
              <a:off x="2772580" y="984173"/>
              <a:ext cx="9364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FBF8C1D-6114-F471-5944-9A24568BE40B}"/>
                </a:ext>
              </a:extLst>
            </p:cNvPr>
            <p:cNvSpPr txBox="1"/>
            <p:nvPr/>
          </p:nvSpPr>
          <p:spPr>
            <a:xfrm>
              <a:off x="2772580" y="823814"/>
              <a:ext cx="46894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PS-Reg RD</a:t>
              </a:r>
            </a:p>
          </p:txBody>
        </p:sp>
      </p:grp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118E1A16-30B4-12C2-DD6C-43D670A3AFD4}"/>
              </a:ext>
            </a:extLst>
          </p:cNvPr>
          <p:cNvSpPr/>
          <p:nvPr/>
        </p:nvSpPr>
        <p:spPr>
          <a:xfrm flipH="1">
            <a:off x="3436411" y="3486642"/>
            <a:ext cx="1300959" cy="2825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/>
              <a:t>DATA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BFEC7DF-E772-D7EB-3D0F-0F51656E74BF}"/>
              </a:ext>
            </a:extLst>
          </p:cNvPr>
          <p:cNvSpPr/>
          <p:nvPr/>
        </p:nvSpPr>
        <p:spPr>
          <a:xfrm>
            <a:off x="4746053" y="3118759"/>
            <a:ext cx="225415" cy="631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E8C6468-F476-967D-BEED-1671B717ADC2}"/>
              </a:ext>
            </a:extLst>
          </p:cNvPr>
          <p:cNvSpPr/>
          <p:nvPr/>
        </p:nvSpPr>
        <p:spPr>
          <a:xfrm>
            <a:off x="4443506" y="2437263"/>
            <a:ext cx="1072309" cy="3686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Paging Ctrl</a:t>
            </a:r>
          </a:p>
        </p:txBody>
      </p: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26EC114F-0F2C-705A-F495-33D9BE1BAD5F}"/>
              </a:ext>
            </a:extLst>
          </p:cNvPr>
          <p:cNvGrpSpPr/>
          <p:nvPr/>
        </p:nvGrpSpPr>
        <p:grpSpPr>
          <a:xfrm>
            <a:off x="3436412" y="2449558"/>
            <a:ext cx="1018911" cy="215444"/>
            <a:chOff x="3421987" y="3162950"/>
            <a:chExt cx="1018911" cy="215444"/>
          </a:xfrm>
        </p:grpSpPr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9EFC1F32-8D82-B4EC-BCD3-53F6D6D38A93}"/>
                </a:ext>
              </a:extLst>
            </p:cNvPr>
            <p:cNvCxnSpPr>
              <a:cxnSpLocks/>
            </p:cNvCxnSpPr>
            <p:nvPr/>
          </p:nvCxnSpPr>
          <p:spPr>
            <a:xfrm>
              <a:off x="3421987" y="3329371"/>
              <a:ext cx="101891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77BA2C3-D579-CF8E-1B47-911FA708F783}"/>
                </a:ext>
              </a:extLst>
            </p:cNvPr>
            <p:cNvSpPr txBox="1"/>
            <p:nvPr/>
          </p:nvSpPr>
          <p:spPr>
            <a:xfrm>
              <a:off x="3556203" y="3162950"/>
              <a:ext cx="62228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Pg Enable</a:t>
              </a:r>
            </a:p>
          </p:txBody>
        </p: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B9D31EA1-71E6-E9F8-2B2C-6D75BA8BFF93}"/>
              </a:ext>
            </a:extLst>
          </p:cNvPr>
          <p:cNvGrpSpPr/>
          <p:nvPr/>
        </p:nvGrpSpPr>
        <p:grpSpPr>
          <a:xfrm>
            <a:off x="3436410" y="1395601"/>
            <a:ext cx="1004028" cy="962274"/>
            <a:chOff x="3436959" y="1990101"/>
            <a:chExt cx="1004028" cy="962274"/>
          </a:xfrm>
        </p:grpSpPr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7E00E1AF-E6B7-98FB-1F76-43026B91BC49}"/>
                </a:ext>
              </a:extLst>
            </p:cNvPr>
            <p:cNvSpPr/>
            <p:nvPr/>
          </p:nvSpPr>
          <p:spPr>
            <a:xfrm>
              <a:off x="3441385" y="2327798"/>
              <a:ext cx="977819" cy="28251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DATA</a:t>
              </a:r>
            </a:p>
          </p:txBody>
        </p:sp>
        <p:sp>
          <p:nvSpPr>
            <p:cNvPr id="36" name="Arrow: Right 35">
              <a:extLst>
                <a:ext uri="{FF2B5EF4-FFF2-40B4-BE49-F238E27FC236}">
                  <a16:creationId xmlns:a16="http://schemas.microsoft.com/office/drawing/2014/main" id="{7AEBF315-38C7-C7AB-A4BA-FB45FDB1FFDD}"/>
                </a:ext>
              </a:extLst>
            </p:cNvPr>
            <p:cNvSpPr/>
            <p:nvPr/>
          </p:nvSpPr>
          <p:spPr>
            <a:xfrm>
              <a:off x="3436961" y="1990101"/>
              <a:ext cx="984328" cy="28251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ADDR:12-15</a:t>
              </a:r>
            </a:p>
          </p:txBody>
        </p:sp>
        <p:grpSp>
          <p:nvGrpSpPr>
            <p:cNvPr id="200" name="Group 199">
              <a:extLst>
                <a:ext uri="{FF2B5EF4-FFF2-40B4-BE49-F238E27FC236}">
                  <a16:creationId xmlns:a16="http://schemas.microsoft.com/office/drawing/2014/main" id="{3E4E9A9E-0AAC-132C-B903-26F38B0699C7}"/>
                </a:ext>
              </a:extLst>
            </p:cNvPr>
            <p:cNvGrpSpPr/>
            <p:nvPr/>
          </p:nvGrpSpPr>
          <p:grpSpPr>
            <a:xfrm>
              <a:off x="3436959" y="2736931"/>
              <a:ext cx="1004028" cy="215444"/>
              <a:chOff x="2693905" y="823814"/>
              <a:chExt cx="1015107" cy="215444"/>
            </a:xfrm>
          </p:grpSpPr>
          <p:cxnSp>
            <p:nvCxnSpPr>
              <p:cNvPr id="201" name="Straight Arrow Connector 200">
                <a:extLst>
                  <a:ext uri="{FF2B5EF4-FFF2-40B4-BE49-F238E27FC236}">
                    <a16:creationId xmlns:a16="http://schemas.microsoft.com/office/drawing/2014/main" id="{B57A3F42-40EE-2D97-4B0A-7DFD231D78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3905" y="984173"/>
                <a:ext cx="101510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C7F8EFCF-2CCB-CA37-9B9F-C9DA233FFD6C}"/>
                  </a:ext>
                </a:extLst>
              </p:cNvPr>
              <p:cNvSpPr txBox="1"/>
              <p:nvPr/>
            </p:nvSpPr>
            <p:spPr>
              <a:xfrm>
                <a:off x="2772580" y="823814"/>
                <a:ext cx="67839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PS-Reg WR</a:t>
                </a:r>
              </a:p>
            </p:txBody>
          </p:sp>
        </p:grp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AD9D75ED-819A-713B-67B8-E170AF0287E8}"/>
              </a:ext>
            </a:extLst>
          </p:cNvPr>
          <p:cNvGrpSpPr/>
          <p:nvPr/>
        </p:nvGrpSpPr>
        <p:grpSpPr>
          <a:xfrm>
            <a:off x="318208" y="5246891"/>
            <a:ext cx="2193178" cy="1096759"/>
            <a:chOff x="318208" y="5246891"/>
            <a:chExt cx="2193178" cy="1096759"/>
          </a:xfrm>
        </p:grpSpPr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5DB0CD06-75B1-B5D2-805A-5483795055AD}"/>
                </a:ext>
              </a:extLst>
            </p:cNvPr>
            <p:cNvSpPr/>
            <p:nvPr/>
          </p:nvSpPr>
          <p:spPr>
            <a:xfrm>
              <a:off x="1160173" y="5361220"/>
              <a:ext cx="1351213" cy="98243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100" dirty="0"/>
                <a:t>USB KBD</a:t>
              </a:r>
              <a:br>
                <a:rPr lang="en-US" sz="1100" dirty="0"/>
              </a:br>
              <a:r>
                <a:rPr lang="en-US" sz="1100" dirty="0"/>
                <a:t>SD Card</a:t>
              </a:r>
              <a:br>
                <a:rPr lang="en-US" sz="1100" dirty="0"/>
              </a:br>
              <a:r>
                <a:rPr lang="en-US" sz="1100" dirty="0"/>
                <a:t>(module)</a:t>
              </a:r>
            </a:p>
          </p:txBody>
        </p: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446F2539-AA16-180E-30FD-5F98BE7DB2CE}"/>
                </a:ext>
              </a:extLst>
            </p:cNvPr>
            <p:cNvGrpSpPr/>
            <p:nvPr/>
          </p:nvGrpSpPr>
          <p:grpSpPr>
            <a:xfrm>
              <a:off x="318208" y="5246891"/>
              <a:ext cx="818605" cy="215444"/>
              <a:chOff x="309992" y="3491186"/>
              <a:chExt cx="818605" cy="220455"/>
            </a:xfrm>
          </p:grpSpPr>
          <p:cxnSp>
            <p:nvCxnSpPr>
              <p:cNvPr id="214" name="Straight Arrow Connector 213">
                <a:extLst>
                  <a:ext uri="{FF2B5EF4-FFF2-40B4-BE49-F238E27FC236}">
                    <a16:creationId xmlns:a16="http://schemas.microsoft.com/office/drawing/2014/main" id="{9E4B39A2-21D7-0B0D-0323-AB4000819DA3}"/>
                  </a:ext>
                </a:extLst>
              </p:cNvPr>
              <p:cNvCxnSpPr/>
              <p:nvPr/>
            </p:nvCxnSpPr>
            <p:spPr>
              <a:xfrm>
                <a:off x="309992" y="3656272"/>
                <a:ext cx="8186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3D022B53-208A-B258-3D55-1C4D4AA0CE43}"/>
                  </a:ext>
                </a:extLst>
              </p:cNvPr>
              <p:cNvSpPr txBox="1"/>
              <p:nvPr/>
            </p:nvSpPr>
            <p:spPr>
              <a:xfrm>
                <a:off x="341800" y="3491186"/>
                <a:ext cx="710451" cy="2204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 err="1"/>
                  <a:t>SDMod</a:t>
                </a:r>
                <a:r>
                  <a:rPr lang="en-US" sz="800" dirty="0"/>
                  <a:t>-SEL</a:t>
                </a:r>
              </a:p>
            </p:txBody>
          </p:sp>
        </p:grp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0F1B78B2-FC69-F57D-F5BB-9AA94C183C55}"/>
                </a:ext>
              </a:extLst>
            </p:cNvPr>
            <p:cNvGrpSpPr/>
            <p:nvPr/>
          </p:nvGrpSpPr>
          <p:grpSpPr>
            <a:xfrm>
              <a:off x="324898" y="5419841"/>
              <a:ext cx="818605" cy="210547"/>
              <a:chOff x="309992" y="3495597"/>
              <a:chExt cx="818605" cy="215444"/>
            </a:xfrm>
          </p:grpSpPr>
          <p:cxnSp>
            <p:nvCxnSpPr>
              <p:cNvPr id="212" name="Straight Arrow Connector 211">
                <a:extLst>
                  <a:ext uri="{FF2B5EF4-FFF2-40B4-BE49-F238E27FC236}">
                    <a16:creationId xmlns:a16="http://schemas.microsoft.com/office/drawing/2014/main" id="{43F8D02A-EA05-2D22-9183-4916E230EEE2}"/>
                  </a:ext>
                </a:extLst>
              </p:cNvPr>
              <p:cNvCxnSpPr/>
              <p:nvPr/>
            </p:nvCxnSpPr>
            <p:spPr>
              <a:xfrm>
                <a:off x="309992" y="3656272"/>
                <a:ext cx="81860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07B6CEC2-7C6A-7FFE-3344-7C083E41F9AC}"/>
                  </a:ext>
                </a:extLst>
              </p:cNvPr>
              <p:cNvSpPr txBox="1"/>
              <p:nvPr/>
            </p:nvSpPr>
            <p:spPr>
              <a:xfrm>
                <a:off x="572355" y="3495597"/>
                <a:ext cx="47320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A[0..1]</a:t>
                </a:r>
              </a:p>
            </p:txBody>
          </p:sp>
        </p:grpSp>
        <p:sp>
          <p:nvSpPr>
            <p:cNvPr id="211" name="Arrow: Left-Right 210">
              <a:extLst>
                <a:ext uri="{FF2B5EF4-FFF2-40B4-BE49-F238E27FC236}">
                  <a16:creationId xmlns:a16="http://schemas.microsoft.com/office/drawing/2014/main" id="{002B0157-2FD7-A709-C495-BFCEDA92D3A7}"/>
                </a:ext>
              </a:extLst>
            </p:cNvPr>
            <p:cNvSpPr/>
            <p:nvPr/>
          </p:nvSpPr>
          <p:spPr>
            <a:xfrm>
              <a:off x="457557" y="5661848"/>
              <a:ext cx="679256" cy="250001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DATA</a:t>
              </a:r>
            </a:p>
          </p:txBody>
        </p:sp>
      </p:grpSp>
      <p:sp>
        <p:nvSpPr>
          <p:cNvPr id="216" name="Arrow: Left-Right 215">
            <a:extLst>
              <a:ext uri="{FF2B5EF4-FFF2-40B4-BE49-F238E27FC236}">
                <a16:creationId xmlns:a16="http://schemas.microsoft.com/office/drawing/2014/main" id="{6E186A2E-3E1F-1385-F229-F73C0FE43201}"/>
              </a:ext>
            </a:extLst>
          </p:cNvPr>
          <p:cNvSpPr/>
          <p:nvPr/>
        </p:nvSpPr>
        <p:spPr>
          <a:xfrm>
            <a:off x="457557" y="5943309"/>
            <a:ext cx="679256" cy="244404"/>
          </a:xfrm>
          <a:prstGeom prst="leftRightArrow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COM2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92F530-E30C-A223-427E-0C4DFE81E664}"/>
              </a:ext>
            </a:extLst>
          </p:cNvPr>
          <p:cNvSpPr/>
          <p:nvPr/>
        </p:nvSpPr>
        <p:spPr>
          <a:xfrm>
            <a:off x="309992" y="1679705"/>
            <a:ext cx="706865" cy="15260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 dirty="0"/>
              <a:t>I/O</a:t>
            </a:r>
          </a:p>
          <a:p>
            <a:pPr algn="ctr"/>
            <a:r>
              <a:rPr lang="en-US" sz="1100" dirty="0"/>
              <a:t>Decode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49BC945-CF3A-3E13-3232-2C106A8A005C}"/>
              </a:ext>
            </a:extLst>
          </p:cNvPr>
          <p:cNvGrpSpPr/>
          <p:nvPr/>
        </p:nvGrpSpPr>
        <p:grpSpPr>
          <a:xfrm>
            <a:off x="1005595" y="1615646"/>
            <a:ext cx="1238774" cy="232249"/>
            <a:chOff x="2772580" y="823814"/>
            <a:chExt cx="936432" cy="215444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28EB2B19-5B36-5829-863D-454082645494}"/>
                </a:ext>
              </a:extLst>
            </p:cNvPr>
            <p:cNvCxnSpPr/>
            <p:nvPr/>
          </p:nvCxnSpPr>
          <p:spPr>
            <a:xfrm>
              <a:off x="2772580" y="984173"/>
              <a:ext cx="9364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ED8FBAA-9D8D-BEE0-94EA-2D52C95000F1}"/>
                </a:ext>
              </a:extLst>
            </p:cNvPr>
            <p:cNvSpPr txBox="1"/>
            <p:nvPr/>
          </p:nvSpPr>
          <p:spPr>
            <a:xfrm>
              <a:off x="2772580" y="823814"/>
              <a:ext cx="67839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PS-Reg WR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877DA2D-DA65-D788-4980-D3A0D9CC9AC7}"/>
              </a:ext>
            </a:extLst>
          </p:cNvPr>
          <p:cNvGrpSpPr/>
          <p:nvPr/>
        </p:nvGrpSpPr>
        <p:grpSpPr>
          <a:xfrm>
            <a:off x="1007268" y="1761460"/>
            <a:ext cx="1240551" cy="232249"/>
            <a:chOff x="2772580" y="823814"/>
            <a:chExt cx="936432" cy="215444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FBD692FA-68D8-4BC3-5D07-8C74C5AC19FE}"/>
                </a:ext>
              </a:extLst>
            </p:cNvPr>
            <p:cNvCxnSpPr/>
            <p:nvPr/>
          </p:nvCxnSpPr>
          <p:spPr>
            <a:xfrm>
              <a:off x="2772580" y="984173"/>
              <a:ext cx="9364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C8A6183-4A88-C4B4-937A-B03C02A9E8B6}"/>
                </a:ext>
              </a:extLst>
            </p:cNvPr>
            <p:cNvSpPr txBox="1"/>
            <p:nvPr/>
          </p:nvSpPr>
          <p:spPr>
            <a:xfrm>
              <a:off x="2772580" y="823814"/>
              <a:ext cx="49635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PS-Reg RD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A0ED542-F0DD-B850-21DE-81F1EBF48E7E}"/>
              </a:ext>
            </a:extLst>
          </p:cNvPr>
          <p:cNvGrpSpPr/>
          <p:nvPr/>
        </p:nvGrpSpPr>
        <p:grpSpPr>
          <a:xfrm>
            <a:off x="1013153" y="2178071"/>
            <a:ext cx="1241128" cy="215444"/>
            <a:chOff x="2772580" y="823814"/>
            <a:chExt cx="936432" cy="199855"/>
          </a:xfrm>
        </p:grpSpPr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A984D7AE-50B5-CB15-17F1-B96210B8CFD4}"/>
                </a:ext>
              </a:extLst>
            </p:cNvPr>
            <p:cNvCxnSpPr/>
            <p:nvPr/>
          </p:nvCxnSpPr>
          <p:spPr>
            <a:xfrm>
              <a:off x="2772580" y="984173"/>
              <a:ext cx="9364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483340F-A55C-043E-983F-C1C8442BBE06}"/>
                </a:ext>
              </a:extLst>
            </p:cNvPr>
            <p:cNvSpPr txBox="1"/>
            <p:nvPr/>
          </p:nvSpPr>
          <p:spPr>
            <a:xfrm>
              <a:off x="2772580" y="823814"/>
              <a:ext cx="569901" cy="1998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BRD-Ctrl WR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A4BA427-A686-88FE-5A3C-D9D589D1952D}"/>
              </a:ext>
            </a:extLst>
          </p:cNvPr>
          <p:cNvGrpSpPr/>
          <p:nvPr/>
        </p:nvGrpSpPr>
        <p:grpSpPr>
          <a:xfrm>
            <a:off x="1017877" y="2350063"/>
            <a:ext cx="1241128" cy="232249"/>
            <a:chOff x="2772580" y="823814"/>
            <a:chExt cx="936432" cy="215444"/>
          </a:xfrm>
        </p:grpSpPr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AE9D039E-6265-5CF1-F0F6-C18058A523DA}"/>
                </a:ext>
              </a:extLst>
            </p:cNvPr>
            <p:cNvCxnSpPr/>
            <p:nvPr/>
          </p:nvCxnSpPr>
          <p:spPr>
            <a:xfrm>
              <a:off x="2772580" y="984173"/>
              <a:ext cx="9364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DC5D691-F344-2456-9CEB-D1E314EA04AC}"/>
                </a:ext>
              </a:extLst>
            </p:cNvPr>
            <p:cNvSpPr txBox="1"/>
            <p:nvPr/>
          </p:nvSpPr>
          <p:spPr>
            <a:xfrm>
              <a:off x="2772580" y="823814"/>
              <a:ext cx="4356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CTC-SEL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8876D0A-9E68-D251-C8F2-64443B1924CB}"/>
              </a:ext>
            </a:extLst>
          </p:cNvPr>
          <p:cNvGrpSpPr/>
          <p:nvPr/>
        </p:nvGrpSpPr>
        <p:grpSpPr>
          <a:xfrm>
            <a:off x="1017877" y="2522055"/>
            <a:ext cx="1241128" cy="232249"/>
            <a:chOff x="2772580" y="823814"/>
            <a:chExt cx="936432" cy="215444"/>
          </a:xfrm>
        </p:grpSpPr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139097E2-C2C5-7DCF-D173-0B73DEB2FF4A}"/>
                </a:ext>
              </a:extLst>
            </p:cNvPr>
            <p:cNvCxnSpPr/>
            <p:nvPr/>
          </p:nvCxnSpPr>
          <p:spPr>
            <a:xfrm>
              <a:off x="2772580" y="984173"/>
              <a:ext cx="9364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DFDB06C-4E19-5358-8A4E-FDF8B65950DC}"/>
                </a:ext>
              </a:extLst>
            </p:cNvPr>
            <p:cNvSpPr txBox="1"/>
            <p:nvPr/>
          </p:nvSpPr>
          <p:spPr>
            <a:xfrm>
              <a:off x="2772580" y="823814"/>
              <a:ext cx="41267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SIO-SEL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FCAF500-0C0F-462C-EE71-4BDD3CB68432}"/>
              </a:ext>
            </a:extLst>
          </p:cNvPr>
          <p:cNvGrpSpPr/>
          <p:nvPr/>
        </p:nvGrpSpPr>
        <p:grpSpPr>
          <a:xfrm>
            <a:off x="1016857" y="2694047"/>
            <a:ext cx="1241128" cy="232249"/>
            <a:chOff x="2772580" y="823814"/>
            <a:chExt cx="936432" cy="215444"/>
          </a:xfrm>
        </p:grpSpPr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1BFC6405-CBCB-A82D-764B-A0F5CF4EB223}"/>
                </a:ext>
              </a:extLst>
            </p:cNvPr>
            <p:cNvCxnSpPr/>
            <p:nvPr/>
          </p:nvCxnSpPr>
          <p:spPr>
            <a:xfrm>
              <a:off x="2772580" y="984173"/>
              <a:ext cx="9364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9B2C714-5639-9579-C012-365D04187A22}"/>
                </a:ext>
              </a:extLst>
            </p:cNvPr>
            <p:cNvSpPr txBox="1"/>
            <p:nvPr/>
          </p:nvSpPr>
          <p:spPr>
            <a:xfrm>
              <a:off x="2772580" y="823814"/>
              <a:ext cx="73076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 err="1"/>
                <a:t>DisplayPanel</a:t>
              </a:r>
              <a:r>
                <a:rPr lang="en-US" sz="800" dirty="0"/>
                <a:t>-SEL</a:t>
              </a:r>
            </a:p>
          </p:txBody>
        </p:sp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8B11D455-59F6-A2BA-4EBE-0EB2DC3EAF76}"/>
              </a:ext>
            </a:extLst>
          </p:cNvPr>
          <p:cNvGrpSpPr/>
          <p:nvPr/>
        </p:nvGrpSpPr>
        <p:grpSpPr>
          <a:xfrm>
            <a:off x="1027494" y="2866040"/>
            <a:ext cx="1241128" cy="215444"/>
            <a:chOff x="2772580" y="823814"/>
            <a:chExt cx="936432" cy="199855"/>
          </a:xfrm>
        </p:grpSpPr>
        <p:cxnSp>
          <p:nvCxnSpPr>
            <p:cNvPr id="224" name="Straight Arrow Connector 223">
              <a:extLst>
                <a:ext uri="{FF2B5EF4-FFF2-40B4-BE49-F238E27FC236}">
                  <a16:creationId xmlns:a16="http://schemas.microsoft.com/office/drawing/2014/main" id="{04D1FC3A-E74C-6C09-96CB-C4A5EE1EBFC6}"/>
                </a:ext>
              </a:extLst>
            </p:cNvPr>
            <p:cNvCxnSpPr/>
            <p:nvPr/>
          </p:nvCxnSpPr>
          <p:spPr>
            <a:xfrm>
              <a:off x="2772580" y="984173"/>
              <a:ext cx="9364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F9D94322-D0CF-E83E-5500-22CFB0DB547B}"/>
                </a:ext>
              </a:extLst>
            </p:cNvPr>
            <p:cNvSpPr txBox="1"/>
            <p:nvPr/>
          </p:nvSpPr>
          <p:spPr>
            <a:xfrm>
              <a:off x="2772580" y="823814"/>
              <a:ext cx="536036" cy="1998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 err="1"/>
                <a:t>SDMod</a:t>
              </a:r>
              <a:r>
                <a:rPr lang="en-US" sz="800" dirty="0"/>
                <a:t>-SEL</a:t>
              </a:r>
            </a:p>
          </p:txBody>
        </p:sp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EE4EA688-82A3-4576-9DF5-F78598A3D3F3}"/>
              </a:ext>
            </a:extLst>
          </p:cNvPr>
          <p:cNvGrpSpPr/>
          <p:nvPr/>
        </p:nvGrpSpPr>
        <p:grpSpPr>
          <a:xfrm>
            <a:off x="273741" y="3430840"/>
            <a:ext cx="859163" cy="215444"/>
            <a:chOff x="273741" y="3430840"/>
            <a:chExt cx="859163" cy="215444"/>
          </a:xfrm>
        </p:grpSpPr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7672D5F0-29C6-0CED-2A39-A1FFA127AE35}"/>
                </a:ext>
              </a:extLst>
            </p:cNvPr>
            <p:cNvCxnSpPr/>
            <p:nvPr/>
          </p:nvCxnSpPr>
          <p:spPr>
            <a:xfrm>
              <a:off x="314299" y="3603399"/>
              <a:ext cx="8186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A7CA4D18-A692-9A21-ECA1-623768130A59}"/>
                </a:ext>
              </a:extLst>
            </p:cNvPr>
            <p:cNvSpPr txBox="1"/>
            <p:nvPr/>
          </p:nvSpPr>
          <p:spPr>
            <a:xfrm>
              <a:off x="273741" y="3430840"/>
              <a:ext cx="7553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BRD-Ctrl WR</a:t>
              </a:r>
            </a:p>
          </p:txBody>
        </p:sp>
      </p:grpSp>
      <p:sp>
        <p:nvSpPr>
          <p:cNvPr id="98" name="Rectangle 97">
            <a:extLst>
              <a:ext uri="{FF2B5EF4-FFF2-40B4-BE49-F238E27FC236}">
                <a16:creationId xmlns:a16="http://schemas.microsoft.com/office/drawing/2014/main" id="{3F7E849E-3308-75F3-B811-EC92B7DBE8AD}"/>
              </a:ext>
            </a:extLst>
          </p:cNvPr>
          <p:cNvSpPr/>
          <p:nvPr/>
        </p:nvSpPr>
        <p:spPr>
          <a:xfrm>
            <a:off x="1141654" y="3365280"/>
            <a:ext cx="976173" cy="943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 dirty="0"/>
              <a:t>Board</a:t>
            </a:r>
            <a:br>
              <a:rPr lang="en-US" sz="1100" dirty="0"/>
            </a:br>
            <a:r>
              <a:rPr lang="en-US" sz="1100" dirty="0"/>
              <a:t>Control</a:t>
            </a:r>
          </a:p>
        </p:txBody>
      </p:sp>
      <p:sp>
        <p:nvSpPr>
          <p:cNvPr id="99" name="Arrow: Right 98">
            <a:extLst>
              <a:ext uri="{FF2B5EF4-FFF2-40B4-BE49-F238E27FC236}">
                <a16:creationId xmlns:a16="http://schemas.microsoft.com/office/drawing/2014/main" id="{A9312B61-AFDB-0C52-896C-C55DB337D78F}"/>
              </a:ext>
            </a:extLst>
          </p:cNvPr>
          <p:cNvSpPr/>
          <p:nvPr/>
        </p:nvSpPr>
        <p:spPr>
          <a:xfrm>
            <a:off x="485707" y="3894935"/>
            <a:ext cx="639277" cy="2825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DATA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17CCCD6-89DA-69C3-9D7E-7E2ABF4794AE}"/>
              </a:ext>
            </a:extLst>
          </p:cNvPr>
          <p:cNvSpPr txBox="1"/>
          <p:nvPr/>
        </p:nvSpPr>
        <p:spPr>
          <a:xfrm>
            <a:off x="1135683" y="3715347"/>
            <a:ext cx="7867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" indent="-91440">
              <a:buSzPct val="101000"/>
              <a:buFont typeface="Arial" panose="020B0604020202020204" pitchFamily="34" charset="0"/>
              <a:buChar char="•"/>
            </a:pPr>
            <a:r>
              <a:rPr lang="en-US" sz="800" dirty="0"/>
              <a:t>NMI Enable</a:t>
            </a:r>
          </a:p>
          <a:p>
            <a:pPr marL="45720" indent="-91440">
              <a:buSzPct val="101000"/>
              <a:buFont typeface="Arial" panose="020B0604020202020204" pitchFamily="34" charset="0"/>
              <a:buChar char="•"/>
            </a:pPr>
            <a:r>
              <a:rPr lang="en-US" sz="800" dirty="0"/>
              <a:t>LED[0..4]</a:t>
            </a:r>
          </a:p>
        </p:txBody>
      </p: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EA362F64-F995-2EF6-6A47-62EA1CC9AAB8}"/>
              </a:ext>
            </a:extLst>
          </p:cNvPr>
          <p:cNvGrpSpPr/>
          <p:nvPr/>
        </p:nvGrpSpPr>
        <p:grpSpPr>
          <a:xfrm>
            <a:off x="2126509" y="3379920"/>
            <a:ext cx="965621" cy="335427"/>
            <a:chOff x="2134429" y="3373388"/>
            <a:chExt cx="965621" cy="335427"/>
          </a:xfrm>
        </p:grpSpPr>
        <p:sp>
          <p:nvSpPr>
            <p:cNvPr id="180" name="Flowchart: Multidocument 179">
              <a:extLst>
                <a:ext uri="{FF2B5EF4-FFF2-40B4-BE49-F238E27FC236}">
                  <a16:creationId xmlns:a16="http://schemas.microsoft.com/office/drawing/2014/main" id="{163E8488-B936-545B-23C4-57084ADF3757}"/>
                </a:ext>
              </a:extLst>
            </p:cNvPr>
            <p:cNvSpPr/>
            <p:nvPr/>
          </p:nvSpPr>
          <p:spPr>
            <a:xfrm>
              <a:off x="2384879" y="3373388"/>
              <a:ext cx="715171" cy="335427"/>
            </a:xfrm>
            <a:prstGeom prst="flowChartMultidocumen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LED[0..4]</a:t>
              </a:r>
            </a:p>
          </p:txBody>
        </p:sp>
        <p:cxnSp>
          <p:nvCxnSpPr>
            <p:cNvPr id="181" name="Straight Arrow Connector 180">
              <a:extLst>
                <a:ext uri="{FF2B5EF4-FFF2-40B4-BE49-F238E27FC236}">
                  <a16:creationId xmlns:a16="http://schemas.microsoft.com/office/drawing/2014/main" id="{0530E760-72F6-00CB-C5E1-9C136E1BA5F9}"/>
                </a:ext>
              </a:extLst>
            </p:cNvPr>
            <p:cNvCxnSpPr>
              <a:cxnSpLocks/>
            </p:cNvCxnSpPr>
            <p:nvPr/>
          </p:nvCxnSpPr>
          <p:spPr>
            <a:xfrm>
              <a:off x="2134429" y="3566285"/>
              <a:ext cx="24219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40152A20-3605-20D8-6902-27127C8E3691}"/>
              </a:ext>
            </a:extLst>
          </p:cNvPr>
          <p:cNvGrpSpPr/>
          <p:nvPr/>
        </p:nvGrpSpPr>
        <p:grpSpPr>
          <a:xfrm>
            <a:off x="2123798" y="3924594"/>
            <a:ext cx="932747" cy="215444"/>
            <a:chOff x="2120285" y="3731240"/>
            <a:chExt cx="932747" cy="215444"/>
          </a:xfrm>
        </p:grpSpPr>
        <p:cxnSp>
          <p:nvCxnSpPr>
            <p:cNvPr id="229" name="Straight Arrow Connector 228">
              <a:extLst>
                <a:ext uri="{FF2B5EF4-FFF2-40B4-BE49-F238E27FC236}">
                  <a16:creationId xmlns:a16="http://schemas.microsoft.com/office/drawing/2014/main" id="{100D2E01-9E34-DC93-FFA9-51D9FE534D5D}"/>
                </a:ext>
              </a:extLst>
            </p:cNvPr>
            <p:cNvCxnSpPr/>
            <p:nvPr/>
          </p:nvCxnSpPr>
          <p:spPr>
            <a:xfrm>
              <a:off x="2120285" y="3904107"/>
              <a:ext cx="93274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5D764D21-B762-1920-5043-8F5536BD90DF}"/>
                </a:ext>
              </a:extLst>
            </p:cNvPr>
            <p:cNvSpPr txBox="1"/>
            <p:nvPr/>
          </p:nvSpPr>
          <p:spPr>
            <a:xfrm>
              <a:off x="2120285" y="3731240"/>
              <a:ext cx="69442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NMI Enable</a:t>
              </a:r>
            </a:p>
          </p:txBody>
        </p:sp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8FDCFCE0-3C5E-1928-7601-F49E22C5535C}"/>
              </a:ext>
            </a:extLst>
          </p:cNvPr>
          <p:cNvGrpSpPr/>
          <p:nvPr/>
        </p:nvGrpSpPr>
        <p:grpSpPr>
          <a:xfrm>
            <a:off x="1013153" y="1962893"/>
            <a:ext cx="1241128" cy="215444"/>
            <a:chOff x="2772580" y="823814"/>
            <a:chExt cx="936432" cy="199855"/>
          </a:xfrm>
        </p:grpSpPr>
        <p:cxnSp>
          <p:nvCxnSpPr>
            <p:cNvPr id="235" name="Straight Arrow Connector 234">
              <a:extLst>
                <a:ext uri="{FF2B5EF4-FFF2-40B4-BE49-F238E27FC236}">
                  <a16:creationId xmlns:a16="http://schemas.microsoft.com/office/drawing/2014/main" id="{F4C0A4FC-640D-843F-A77B-5BC148FD21AC}"/>
                </a:ext>
              </a:extLst>
            </p:cNvPr>
            <p:cNvCxnSpPr/>
            <p:nvPr/>
          </p:nvCxnSpPr>
          <p:spPr>
            <a:xfrm>
              <a:off x="2772580" y="984173"/>
              <a:ext cx="9364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49DB5BF5-316A-52CA-704E-1FC7EA51E2F2}"/>
                </a:ext>
              </a:extLst>
            </p:cNvPr>
            <p:cNvSpPr txBox="1"/>
            <p:nvPr/>
          </p:nvSpPr>
          <p:spPr>
            <a:xfrm>
              <a:off x="2772580" y="823814"/>
              <a:ext cx="439279" cy="1998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 err="1"/>
                <a:t>PgEn</a:t>
              </a:r>
              <a:r>
                <a:rPr lang="en-US" sz="800" dirty="0"/>
                <a:t> WR</a:t>
              </a:r>
            </a:p>
          </p:txBody>
        </p: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94730A09-96F7-E8AB-2858-681FA1FCD4DA}"/>
              </a:ext>
            </a:extLst>
          </p:cNvPr>
          <p:cNvGrpSpPr/>
          <p:nvPr/>
        </p:nvGrpSpPr>
        <p:grpSpPr>
          <a:xfrm>
            <a:off x="2328953" y="347631"/>
            <a:ext cx="1808073" cy="865464"/>
            <a:chOff x="2328953" y="347631"/>
            <a:chExt cx="1808073" cy="865464"/>
          </a:xfrm>
        </p:grpSpPr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412D520C-B9B9-D3CD-09F4-286B5C1210E2}"/>
                </a:ext>
              </a:extLst>
            </p:cNvPr>
            <p:cNvSpPr/>
            <p:nvPr/>
          </p:nvSpPr>
          <p:spPr>
            <a:xfrm>
              <a:off x="2951652" y="420306"/>
              <a:ext cx="626195" cy="78421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000" dirty="0"/>
                <a:t>Paging</a:t>
              </a:r>
            </a:p>
            <a:p>
              <a:pPr algn="ctr"/>
              <a:r>
                <a:rPr lang="en-US" sz="1000" dirty="0"/>
                <a:t>Enable</a:t>
              </a:r>
            </a:p>
          </p:txBody>
        </p:sp>
        <p:grpSp>
          <p:nvGrpSpPr>
            <p:cNvPr id="257" name="Group 256">
              <a:extLst>
                <a:ext uri="{FF2B5EF4-FFF2-40B4-BE49-F238E27FC236}">
                  <a16:creationId xmlns:a16="http://schemas.microsoft.com/office/drawing/2014/main" id="{3E36F7F8-A83D-EA52-F398-CA5E503D5692}"/>
                </a:ext>
              </a:extLst>
            </p:cNvPr>
            <p:cNvGrpSpPr/>
            <p:nvPr/>
          </p:nvGrpSpPr>
          <p:grpSpPr>
            <a:xfrm>
              <a:off x="2345850" y="873027"/>
              <a:ext cx="691521" cy="215444"/>
              <a:chOff x="2345850" y="873027"/>
              <a:chExt cx="691521" cy="215444"/>
            </a:xfrm>
          </p:grpSpPr>
          <p:cxnSp>
            <p:nvCxnSpPr>
              <p:cNvPr id="239" name="Straight Arrow Connector 238">
                <a:extLst>
                  <a:ext uri="{FF2B5EF4-FFF2-40B4-BE49-F238E27FC236}">
                    <a16:creationId xmlns:a16="http://schemas.microsoft.com/office/drawing/2014/main" id="{20540787-C5AA-0AD0-C0CD-85A14E6FC0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96674" y="1022489"/>
                <a:ext cx="551410" cy="151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6C32134A-3364-374F-0895-AC3DA51D78EA}"/>
                  </a:ext>
                </a:extLst>
              </p:cNvPr>
              <p:cNvSpPr txBox="1"/>
              <p:nvPr/>
            </p:nvSpPr>
            <p:spPr>
              <a:xfrm>
                <a:off x="2345850" y="873027"/>
                <a:ext cx="6915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Z80RST</a:t>
                </a:r>
              </a:p>
            </p:txBody>
          </p:sp>
        </p:grpSp>
        <p:grpSp>
          <p:nvGrpSpPr>
            <p:cNvPr id="241" name="Group 240">
              <a:extLst>
                <a:ext uri="{FF2B5EF4-FFF2-40B4-BE49-F238E27FC236}">
                  <a16:creationId xmlns:a16="http://schemas.microsoft.com/office/drawing/2014/main" id="{A5DB49CE-0EE0-6EAC-EE80-6367FE97FE04}"/>
                </a:ext>
              </a:extLst>
            </p:cNvPr>
            <p:cNvGrpSpPr/>
            <p:nvPr/>
          </p:nvGrpSpPr>
          <p:grpSpPr>
            <a:xfrm>
              <a:off x="3507518" y="648005"/>
              <a:ext cx="629508" cy="215444"/>
              <a:chOff x="3277844" y="3159147"/>
              <a:chExt cx="1104502" cy="215444"/>
            </a:xfrm>
          </p:grpSpPr>
          <p:cxnSp>
            <p:nvCxnSpPr>
              <p:cNvPr id="242" name="Straight Arrow Connector 241">
                <a:extLst>
                  <a:ext uri="{FF2B5EF4-FFF2-40B4-BE49-F238E27FC236}">
                    <a16:creationId xmlns:a16="http://schemas.microsoft.com/office/drawing/2014/main" id="{DF1B7A85-C52D-BE4C-E25B-17ED468194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21987" y="3329371"/>
                <a:ext cx="96035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D4257B8B-75A4-0655-9F4D-DF530A5B0720}"/>
                  </a:ext>
                </a:extLst>
              </p:cNvPr>
              <p:cNvSpPr txBox="1"/>
              <p:nvPr/>
            </p:nvSpPr>
            <p:spPr>
              <a:xfrm>
                <a:off x="3277844" y="3159147"/>
                <a:ext cx="109183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/>
                  <a:t>Pg Enable</a:t>
                </a:r>
              </a:p>
            </p:txBody>
          </p:sp>
        </p:grpSp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EC78309F-0D2E-FC97-087E-5F37AD7856B4}"/>
                </a:ext>
              </a:extLst>
            </p:cNvPr>
            <p:cNvGrpSpPr/>
            <p:nvPr/>
          </p:nvGrpSpPr>
          <p:grpSpPr>
            <a:xfrm>
              <a:off x="2328953" y="347631"/>
              <a:ext cx="626195" cy="215444"/>
              <a:chOff x="2328953" y="347631"/>
              <a:chExt cx="626195" cy="215444"/>
            </a:xfrm>
          </p:grpSpPr>
          <p:cxnSp>
            <p:nvCxnSpPr>
              <p:cNvPr id="248" name="Straight Arrow Connector 247">
                <a:extLst>
                  <a:ext uri="{FF2B5EF4-FFF2-40B4-BE49-F238E27FC236}">
                    <a16:creationId xmlns:a16="http://schemas.microsoft.com/office/drawing/2014/main" id="{94ECC484-E486-17A7-BCBE-D2DFE6EA54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3156" y="512031"/>
                <a:ext cx="55492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54360650-A5E7-9005-BB9B-47CF86DE40FD}"/>
                  </a:ext>
                </a:extLst>
              </p:cNvPr>
              <p:cNvSpPr txBox="1"/>
              <p:nvPr/>
            </p:nvSpPr>
            <p:spPr>
              <a:xfrm>
                <a:off x="2328953" y="347631"/>
                <a:ext cx="626195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 err="1"/>
                  <a:t>PgEN</a:t>
                </a:r>
                <a:r>
                  <a:rPr lang="en-US" sz="800" dirty="0"/>
                  <a:t> WR</a:t>
                </a:r>
              </a:p>
            </p:txBody>
          </p:sp>
        </p:grpSp>
        <p:grpSp>
          <p:nvGrpSpPr>
            <p:cNvPr id="256" name="Group 255">
              <a:extLst>
                <a:ext uri="{FF2B5EF4-FFF2-40B4-BE49-F238E27FC236}">
                  <a16:creationId xmlns:a16="http://schemas.microsoft.com/office/drawing/2014/main" id="{B2CBDF92-489C-4132-A3CC-C48B62BB1893}"/>
                </a:ext>
              </a:extLst>
            </p:cNvPr>
            <p:cNvGrpSpPr/>
            <p:nvPr/>
          </p:nvGrpSpPr>
          <p:grpSpPr>
            <a:xfrm>
              <a:off x="2345850" y="512031"/>
              <a:ext cx="691521" cy="215444"/>
              <a:chOff x="2345850" y="512031"/>
              <a:chExt cx="691521" cy="215444"/>
            </a:xfrm>
          </p:grpSpPr>
          <p:cxnSp>
            <p:nvCxnSpPr>
              <p:cNvPr id="251" name="Straight Arrow Connector 250">
                <a:extLst>
                  <a:ext uri="{FF2B5EF4-FFF2-40B4-BE49-F238E27FC236}">
                    <a16:creationId xmlns:a16="http://schemas.microsoft.com/office/drawing/2014/main" id="{932AB251-B568-7685-887D-AEF0BB48F1B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92335" y="668701"/>
                <a:ext cx="555749" cy="388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E12DB461-6CD8-30DC-78D2-359DB9CE8441}"/>
                  </a:ext>
                </a:extLst>
              </p:cNvPr>
              <p:cNvSpPr txBox="1"/>
              <p:nvPr/>
            </p:nvSpPr>
            <p:spPr>
              <a:xfrm>
                <a:off x="2345850" y="512031"/>
                <a:ext cx="69152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D0</a:t>
                </a:r>
              </a:p>
            </p:txBody>
          </p:sp>
        </p:grp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740E8686-EA76-1BE0-3FE5-D0DA21CE738B}"/>
                </a:ext>
              </a:extLst>
            </p:cNvPr>
            <p:cNvSpPr txBox="1"/>
            <p:nvPr/>
          </p:nvSpPr>
          <p:spPr>
            <a:xfrm>
              <a:off x="2983283" y="751430"/>
              <a:ext cx="5783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/>
                <a:t>Z80RST</a:t>
              </a:r>
              <a:br>
                <a:rPr lang="en-US" sz="800" dirty="0"/>
              </a:br>
              <a:r>
                <a:rPr lang="en-US" sz="800" dirty="0"/>
                <a:t>disables</a:t>
              </a:r>
              <a:br>
                <a:rPr lang="en-US" sz="800" dirty="0"/>
              </a:br>
              <a:r>
                <a:rPr lang="en-US" sz="800" dirty="0"/>
                <a:t>paging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9083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5217</TotalTime>
  <Words>266</Words>
  <Application>Microsoft Office PowerPoint</Application>
  <PresentationFormat>On-screen Show (4:3)</PresentationFormat>
  <Paragraphs>95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 Silky</dc:creator>
  <cp:lastModifiedBy>Ed Silky</cp:lastModifiedBy>
  <cp:revision>12</cp:revision>
  <cp:lastPrinted>2025-10-02T18:17:25Z</cp:lastPrinted>
  <dcterms:created xsi:type="dcterms:W3CDTF">2025-09-30T03:21:45Z</dcterms:created>
  <dcterms:modified xsi:type="dcterms:W3CDTF">2025-10-03T18:19:42Z</dcterms:modified>
</cp:coreProperties>
</file>